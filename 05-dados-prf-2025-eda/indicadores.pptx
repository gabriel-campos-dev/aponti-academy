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9753600" cy="7315200"/>
  <p:notesSz cx="6858000" cy="9144000"/>
  <p:embeddedFontLst>
    <p:embeddedFont>
      <p:font typeface="Libra Serif Modern" charset="1" panose="02000503080000020004"/>
      <p:regular r:id="rId11"/>
    </p:embeddedFont>
    <p:embeddedFont>
      <p:font typeface="DM Sans" charset="1" panose="000000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70320" y="1966605"/>
          <a:ext cx="8503411" cy="1781135"/>
        </p:xfrm>
        <a:graphic>
          <a:graphicData uri="http://schemas.openxmlformats.org/drawingml/2006/table">
            <a:tbl>
              <a:tblPr/>
              <a:tblGrid>
                <a:gridCol w="1723086"/>
                <a:gridCol w="2318996"/>
                <a:gridCol w="2422768"/>
                <a:gridCol w="2038561"/>
              </a:tblGrid>
              <a:tr h="8370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C0D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C0D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C0D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C0DF"/>
                    </a:solidFill>
                  </a:tcPr>
                </a:tc>
              </a:tr>
              <a:tr h="9441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C0D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true" flipV="true" rot="-9978473">
            <a:off x="21994" y="302589"/>
            <a:ext cx="880301" cy="1080641"/>
          </a:xfrm>
          <a:custGeom>
            <a:avLst/>
            <a:gdLst/>
            <a:ahLst/>
            <a:cxnLst/>
            <a:rect r="r" b="b" t="t" l="l"/>
            <a:pathLst>
              <a:path h="1080641" w="880301">
                <a:moveTo>
                  <a:pt x="880302" y="1080640"/>
                </a:moveTo>
                <a:lnTo>
                  <a:pt x="0" y="1080640"/>
                </a:lnTo>
                <a:lnTo>
                  <a:pt x="0" y="0"/>
                </a:lnTo>
                <a:lnTo>
                  <a:pt x="880302" y="0"/>
                </a:lnTo>
                <a:lnTo>
                  <a:pt x="880302" y="108064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7527" y="4052540"/>
            <a:ext cx="6827551" cy="3133093"/>
          </a:xfrm>
          <a:custGeom>
            <a:avLst/>
            <a:gdLst/>
            <a:ahLst/>
            <a:cxnLst/>
            <a:rect r="r" b="b" t="t" l="l"/>
            <a:pathLst>
              <a:path h="3133093" w="6827551">
                <a:moveTo>
                  <a:pt x="0" y="0"/>
                </a:moveTo>
                <a:lnTo>
                  <a:pt x="6827551" y="0"/>
                </a:lnTo>
                <a:lnTo>
                  <a:pt x="6827551" y="3133093"/>
                </a:lnTo>
                <a:lnTo>
                  <a:pt x="0" y="31330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96710" y="658922"/>
            <a:ext cx="7669186" cy="839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6"/>
              </a:lnSpc>
            </a:pPr>
            <a:r>
              <a:rPr lang="en-US" sz="4818">
                <a:solidFill>
                  <a:srgbClr val="2A2C2B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TABELA DE INDICADORES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60460" y="2202521"/>
            <a:ext cx="1474324" cy="37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6"/>
              </a:lnSpc>
            </a:pPr>
            <a:r>
              <a:rPr lang="en-US" sz="2183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KPI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62145" y="2871000"/>
            <a:ext cx="1323465" cy="777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69"/>
              </a:lnSpc>
              <a:spcBef>
                <a:spcPct val="0"/>
              </a:spcBef>
            </a:pPr>
            <a:r>
              <a:rPr lang="en-US" sz="1478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Taxa de fat</a:t>
            </a:r>
            <a:r>
              <a:rPr lang="en-US" sz="1478" strike="noStrike" u="none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ali</a:t>
            </a:r>
            <a:r>
              <a:rPr lang="en-US" sz="1478" strike="noStrike" u="none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dade por</a:t>
            </a:r>
            <a:r>
              <a:rPr lang="en-US" sz="1478" strike="noStrike" u="none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78" strike="noStrike" u="none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UF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70307" y="2232259"/>
            <a:ext cx="160464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PERGUNTA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79446" y="2963385"/>
            <a:ext cx="1986370" cy="562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1"/>
              </a:lnSpc>
            </a:pPr>
            <a:r>
              <a:rPr lang="en-US" sz="1122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Quais UFs apresentão maior índice de acidentes com fatalidade?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83651" y="2272686"/>
            <a:ext cx="167225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HÍPOTESES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93641" y="2272686"/>
            <a:ext cx="167225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METRICA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26593" y="2963385"/>
            <a:ext cx="1986370" cy="562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1"/>
              </a:lnSpc>
            </a:pPr>
            <a:r>
              <a:rPr lang="en-US" sz="1122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Estados do nordeste possuem índice acima 10% de acidentes fatais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07301" y="3058635"/>
            <a:ext cx="1695732" cy="371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71"/>
              </a:lnSpc>
              <a:spcBef>
                <a:spcPct val="0"/>
              </a:spcBef>
            </a:pPr>
            <a:r>
              <a:rPr lang="en-US" sz="1122" strike="noStrike" u="none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(acidentes_fatais na UF / total na UF) x 100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70320" y="1966605"/>
          <a:ext cx="8503411" cy="1781135"/>
        </p:xfrm>
        <a:graphic>
          <a:graphicData uri="http://schemas.openxmlformats.org/drawingml/2006/table">
            <a:tbl>
              <a:tblPr/>
              <a:tblGrid>
                <a:gridCol w="1723086"/>
                <a:gridCol w="2318996"/>
                <a:gridCol w="2422768"/>
                <a:gridCol w="2038561"/>
              </a:tblGrid>
              <a:tr h="8370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C0D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C0D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C0D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C0DF"/>
                    </a:solidFill>
                  </a:tcPr>
                </a:tc>
              </a:tr>
              <a:tr h="9441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C0D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true" flipV="true" rot="-9978473">
            <a:off x="21994" y="302589"/>
            <a:ext cx="880301" cy="1080641"/>
          </a:xfrm>
          <a:custGeom>
            <a:avLst/>
            <a:gdLst/>
            <a:ahLst/>
            <a:cxnLst/>
            <a:rect r="r" b="b" t="t" l="l"/>
            <a:pathLst>
              <a:path h="1080641" w="880301">
                <a:moveTo>
                  <a:pt x="880302" y="1080640"/>
                </a:moveTo>
                <a:lnTo>
                  <a:pt x="0" y="1080640"/>
                </a:lnTo>
                <a:lnTo>
                  <a:pt x="0" y="0"/>
                </a:lnTo>
                <a:lnTo>
                  <a:pt x="880302" y="0"/>
                </a:lnTo>
                <a:lnTo>
                  <a:pt x="880302" y="108064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22010" y="3910932"/>
            <a:ext cx="4648552" cy="3245645"/>
          </a:xfrm>
          <a:custGeom>
            <a:avLst/>
            <a:gdLst/>
            <a:ahLst/>
            <a:cxnLst/>
            <a:rect r="r" b="b" t="t" l="l"/>
            <a:pathLst>
              <a:path h="3245645" w="4648552">
                <a:moveTo>
                  <a:pt x="0" y="0"/>
                </a:moveTo>
                <a:lnTo>
                  <a:pt x="4648552" y="0"/>
                </a:lnTo>
                <a:lnTo>
                  <a:pt x="4648552" y="3245645"/>
                </a:lnTo>
                <a:lnTo>
                  <a:pt x="0" y="32456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96710" y="658922"/>
            <a:ext cx="7669186" cy="839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6"/>
              </a:lnSpc>
            </a:pPr>
            <a:r>
              <a:rPr lang="en-US" sz="4818">
                <a:solidFill>
                  <a:srgbClr val="2A2C2B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TABELA DE INDICADORES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60460" y="2202521"/>
            <a:ext cx="1474324" cy="37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6"/>
              </a:lnSpc>
            </a:pPr>
            <a:r>
              <a:rPr lang="en-US" sz="2183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KPI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0320" y="2858610"/>
            <a:ext cx="1756289" cy="762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69"/>
              </a:lnSpc>
              <a:spcBef>
                <a:spcPct val="0"/>
              </a:spcBef>
            </a:pPr>
            <a:r>
              <a:rPr lang="en-US" sz="1478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Taxa de fatalidade por condição meteorológica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70307" y="2232259"/>
            <a:ext cx="160464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PERGUNTA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79446" y="2953860"/>
            <a:ext cx="2178899" cy="603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3"/>
              </a:lnSpc>
            </a:pPr>
            <a:r>
              <a:rPr lang="en-US" sz="1188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Qual condição meteorológica apresenta maior índice de fatalidade?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83651" y="2272686"/>
            <a:ext cx="167225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HÍPOTESES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93641" y="2272686"/>
            <a:ext cx="167225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METRICA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70163" y="2962875"/>
            <a:ext cx="1695732" cy="562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1"/>
              </a:lnSpc>
            </a:pPr>
            <a:r>
              <a:rPr lang="en-US" sz="1122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(acidentes_fatais das condições / total da codições) x 100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22025" y="2811346"/>
            <a:ext cx="2076348" cy="897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1"/>
              </a:lnSpc>
            </a:pPr>
            <a:r>
              <a:rPr lang="en-US" sz="1022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Condições como neblina e vento podem aumentar a chance de um acidente ser fatal, principalmente por atrapalharem a visibilidade e a direção.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70320" y="1966605"/>
          <a:ext cx="8503411" cy="1781135"/>
        </p:xfrm>
        <a:graphic>
          <a:graphicData uri="http://schemas.openxmlformats.org/drawingml/2006/table">
            <a:tbl>
              <a:tblPr/>
              <a:tblGrid>
                <a:gridCol w="1723086"/>
                <a:gridCol w="2318996"/>
                <a:gridCol w="2422768"/>
                <a:gridCol w="2038561"/>
              </a:tblGrid>
              <a:tr h="8370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C0D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C0D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C0D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C0DF"/>
                    </a:solidFill>
                  </a:tcPr>
                </a:tc>
              </a:tr>
              <a:tr h="9441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C0D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true" flipV="true" rot="-9978473">
            <a:off x="21994" y="302589"/>
            <a:ext cx="880301" cy="1080641"/>
          </a:xfrm>
          <a:custGeom>
            <a:avLst/>
            <a:gdLst/>
            <a:ahLst/>
            <a:cxnLst/>
            <a:rect r="r" b="b" t="t" l="l"/>
            <a:pathLst>
              <a:path h="1080641" w="880301">
                <a:moveTo>
                  <a:pt x="880302" y="1080640"/>
                </a:moveTo>
                <a:lnTo>
                  <a:pt x="0" y="1080640"/>
                </a:lnTo>
                <a:lnTo>
                  <a:pt x="0" y="0"/>
                </a:lnTo>
                <a:lnTo>
                  <a:pt x="880302" y="0"/>
                </a:lnTo>
                <a:lnTo>
                  <a:pt x="880302" y="108064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69911" y="3845176"/>
            <a:ext cx="4613778" cy="3314451"/>
          </a:xfrm>
          <a:custGeom>
            <a:avLst/>
            <a:gdLst/>
            <a:ahLst/>
            <a:cxnLst/>
            <a:rect r="r" b="b" t="t" l="l"/>
            <a:pathLst>
              <a:path h="3314451" w="4613778">
                <a:moveTo>
                  <a:pt x="0" y="0"/>
                </a:moveTo>
                <a:lnTo>
                  <a:pt x="4613778" y="0"/>
                </a:lnTo>
                <a:lnTo>
                  <a:pt x="4613778" y="3314451"/>
                </a:lnTo>
                <a:lnTo>
                  <a:pt x="0" y="33144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96710" y="658922"/>
            <a:ext cx="7669186" cy="839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6"/>
              </a:lnSpc>
            </a:pPr>
            <a:r>
              <a:rPr lang="en-US" sz="4818">
                <a:solidFill>
                  <a:srgbClr val="2A2C2B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TABELA DE INDICADORES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60460" y="2202521"/>
            <a:ext cx="1474324" cy="37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6"/>
              </a:lnSpc>
            </a:pPr>
            <a:r>
              <a:rPr lang="en-US" sz="2183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KPI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62145" y="2871000"/>
            <a:ext cx="1323465" cy="1039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69"/>
              </a:lnSpc>
              <a:spcBef>
                <a:spcPct val="0"/>
              </a:spcBef>
            </a:pPr>
            <a:r>
              <a:rPr lang="en-US" sz="1478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Taxa de fatalidade por d</a:t>
            </a:r>
            <a:r>
              <a:rPr lang="en-US" sz="1478" strike="noStrike" u="none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ia da s</a:t>
            </a:r>
            <a:r>
              <a:rPr lang="en-US" sz="1478" strike="noStrike" u="none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emana</a:t>
            </a:r>
          </a:p>
          <a:p>
            <a:pPr algn="ctr" marL="0" indent="0" lvl="0">
              <a:lnSpc>
                <a:spcPts val="206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270307" y="2232259"/>
            <a:ext cx="160464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PERGUNTA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79446" y="2963385"/>
            <a:ext cx="1986370" cy="562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1"/>
              </a:lnSpc>
            </a:pPr>
            <a:r>
              <a:rPr lang="en-US" sz="1122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Qual dia da semana apresenta mais índice de acidentes?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83651" y="2272686"/>
            <a:ext cx="167225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HÍPOTESES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93641" y="2272686"/>
            <a:ext cx="167225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METRICA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26593" y="3033720"/>
            <a:ext cx="1986370" cy="371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1"/>
              </a:lnSpc>
            </a:pPr>
            <a:r>
              <a:rPr lang="en-US" sz="1122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Finais de semana apresentam maior índice de acidentes.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07301" y="2963385"/>
            <a:ext cx="1695732" cy="562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1"/>
              </a:lnSpc>
            </a:pPr>
            <a:r>
              <a:rPr lang="en-US" sz="1122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(acidentes_fatais no grupo / total no grupo) x 100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70320" y="1966605"/>
          <a:ext cx="8503411" cy="1781135"/>
        </p:xfrm>
        <a:graphic>
          <a:graphicData uri="http://schemas.openxmlformats.org/drawingml/2006/table">
            <a:tbl>
              <a:tblPr/>
              <a:tblGrid>
                <a:gridCol w="1723086"/>
                <a:gridCol w="2318996"/>
                <a:gridCol w="2422768"/>
                <a:gridCol w="2038561"/>
              </a:tblGrid>
              <a:tr h="8370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C0D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C0D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C0D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C0DF"/>
                    </a:solidFill>
                  </a:tcPr>
                </a:tc>
              </a:tr>
              <a:tr h="9441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C0D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true" flipV="true" rot="-9978473">
            <a:off x="21994" y="302589"/>
            <a:ext cx="880301" cy="1080641"/>
          </a:xfrm>
          <a:custGeom>
            <a:avLst/>
            <a:gdLst/>
            <a:ahLst/>
            <a:cxnLst/>
            <a:rect r="r" b="b" t="t" l="l"/>
            <a:pathLst>
              <a:path h="1080641" w="880301">
                <a:moveTo>
                  <a:pt x="880302" y="1080640"/>
                </a:moveTo>
                <a:lnTo>
                  <a:pt x="0" y="1080640"/>
                </a:lnTo>
                <a:lnTo>
                  <a:pt x="0" y="0"/>
                </a:lnTo>
                <a:lnTo>
                  <a:pt x="880302" y="0"/>
                </a:lnTo>
                <a:lnTo>
                  <a:pt x="880302" y="108064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70798" y="3910932"/>
            <a:ext cx="3921010" cy="3011031"/>
          </a:xfrm>
          <a:custGeom>
            <a:avLst/>
            <a:gdLst/>
            <a:ahLst/>
            <a:cxnLst/>
            <a:rect r="r" b="b" t="t" l="l"/>
            <a:pathLst>
              <a:path h="3011031" w="3921010">
                <a:moveTo>
                  <a:pt x="0" y="0"/>
                </a:moveTo>
                <a:lnTo>
                  <a:pt x="3921010" y="0"/>
                </a:lnTo>
                <a:lnTo>
                  <a:pt x="3921010" y="3011031"/>
                </a:lnTo>
                <a:lnTo>
                  <a:pt x="0" y="30110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852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96710" y="658922"/>
            <a:ext cx="7669186" cy="839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6"/>
              </a:lnSpc>
            </a:pPr>
            <a:r>
              <a:rPr lang="en-US" sz="4818">
                <a:solidFill>
                  <a:srgbClr val="2A2C2B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TABELA DE INDICADORES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60460" y="2202521"/>
            <a:ext cx="1474324" cy="37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6"/>
              </a:lnSpc>
            </a:pPr>
            <a:r>
              <a:rPr lang="en-US" sz="2183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KPI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62145" y="2871000"/>
            <a:ext cx="1323465" cy="1039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69"/>
              </a:lnSpc>
              <a:spcBef>
                <a:spcPct val="0"/>
              </a:spcBef>
            </a:pPr>
            <a:r>
              <a:rPr lang="en-US" sz="1478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Taxa de fatalidade por f</a:t>
            </a:r>
            <a:r>
              <a:rPr lang="en-US" sz="1478" strike="noStrike" u="none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ase do dia</a:t>
            </a:r>
          </a:p>
          <a:p>
            <a:pPr algn="ctr" marL="0" indent="0" lvl="0">
              <a:lnSpc>
                <a:spcPts val="206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270307" y="2232259"/>
            <a:ext cx="160464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PERGUNTA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79446" y="2963385"/>
            <a:ext cx="1986370" cy="562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1"/>
              </a:lnSpc>
            </a:pPr>
            <a:r>
              <a:rPr lang="en-US" sz="1122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Por que o amanhecer apresenta maior taxa de fatalidade?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83651" y="2272686"/>
            <a:ext cx="167225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HÍPOTESES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93641" y="2272686"/>
            <a:ext cx="167225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METRICA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22025" y="2880525"/>
            <a:ext cx="2094134" cy="752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1"/>
              </a:lnSpc>
            </a:pPr>
            <a:r>
              <a:rPr lang="en-US" sz="1122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Sucedendo o periodo de plena noite, o periodo de amanhecer apresenta continuidade percentual na fase do dia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07301" y="2963385"/>
            <a:ext cx="1695732" cy="371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1"/>
              </a:lnSpc>
            </a:pPr>
            <a:r>
              <a:rPr lang="en-US" sz="1122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(acidentes_fatais na fase / total na fase) x 100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70320" y="1966605"/>
          <a:ext cx="8503411" cy="1781135"/>
        </p:xfrm>
        <a:graphic>
          <a:graphicData uri="http://schemas.openxmlformats.org/drawingml/2006/table">
            <a:tbl>
              <a:tblPr/>
              <a:tblGrid>
                <a:gridCol w="1723086"/>
                <a:gridCol w="2318996"/>
                <a:gridCol w="2422768"/>
                <a:gridCol w="2038561"/>
              </a:tblGrid>
              <a:tr h="8370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C0D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C0D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C0D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C0DF"/>
                    </a:solidFill>
                  </a:tcPr>
                </a:tc>
              </a:tr>
              <a:tr h="9441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C0D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2A2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true" flipV="true" rot="-9978473">
            <a:off x="21994" y="302589"/>
            <a:ext cx="880301" cy="1080641"/>
          </a:xfrm>
          <a:custGeom>
            <a:avLst/>
            <a:gdLst/>
            <a:ahLst/>
            <a:cxnLst/>
            <a:rect r="r" b="b" t="t" l="l"/>
            <a:pathLst>
              <a:path h="1080641" w="880301">
                <a:moveTo>
                  <a:pt x="880302" y="1080640"/>
                </a:moveTo>
                <a:lnTo>
                  <a:pt x="0" y="1080640"/>
                </a:lnTo>
                <a:lnTo>
                  <a:pt x="0" y="0"/>
                </a:lnTo>
                <a:lnTo>
                  <a:pt x="880302" y="0"/>
                </a:lnTo>
                <a:lnTo>
                  <a:pt x="880302" y="108064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84171" y="3848586"/>
            <a:ext cx="5672608" cy="3329170"/>
          </a:xfrm>
          <a:custGeom>
            <a:avLst/>
            <a:gdLst/>
            <a:ahLst/>
            <a:cxnLst/>
            <a:rect r="r" b="b" t="t" l="l"/>
            <a:pathLst>
              <a:path h="3329170" w="5672608">
                <a:moveTo>
                  <a:pt x="0" y="0"/>
                </a:moveTo>
                <a:lnTo>
                  <a:pt x="5672608" y="0"/>
                </a:lnTo>
                <a:lnTo>
                  <a:pt x="5672608" y="3329170"/>
                </a:lnTo>
                <a:lnTo>
                  <a:pt x="0" y="3329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96710" y="658922"/>
            <a:ext cx="7669186" cy="839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6"/>
              </a:lnSpc>
            </a:pPr>
            <a:r>
              <a:rPr lang="en-US" sz="4818">
                <a:solidFill>
                  <a:srgbClr val="2A2C2B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TABELA DE INDICADORES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60460" y="2202521"/>
            <a:ext cx="1474324" cy="37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6"/>
              </a:lnSpc>
            </a:pPr>
            <a:r>
              <a:rPr lang="en-US" sz="2183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KPI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92371" y="2828597"/>
            <a:ext cx="1291800" cy="1103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47"/>
              </a:lnSpc>
              <a:spcBef>
                <a:spcPct val="0"/>
              </a:spcBef>
            </a:pPr>
            <a:r>
              <a:rPr lang="en-US" sz="1248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Taxa de fatalidade por c</a:t>
            </a:r>
            <a:r>
              <a:rPr lang="en-US" sz="1248" strike="noStrike" u="none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ausa do acidente</a:t>
            </a:r>
          </a:p>
          <a:p>
            <a:pPr algn="ctr" marL="0" indent="0" lvl="0">
              <a:lnSpc>
                <a:spcPts val="1747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270307" y="2232259"/>
            <a:ext cx="160464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PERGUNTA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35256" y="2868135"/>
            <a:ext cx="1986370" cy="752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1"/>
              </a:lnSpc>
            </a:pPr>
            <a:r>
              <a:rPr lang="en-US" sz="1122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Por que o demais falhas mecânicas ou elétricas apresenta menor taxa de fatalidade?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83651" y="2272686"/>
            <a:ext cx="167225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HÍPOTESES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93641" y="2272686"/>
            <a:ext cx="167225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METRICA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472711" y="2963385"/>
            <a:ext cx="2094134" cy="562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1"/>
              </a:lnSpc>
            </a:pPr>
            <a:r>
              <a:rPr lang="en-US" sz="1122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Os veiculos geralmente são testados em fabrica e estão mantendo as revisões em dia.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62120" y="3026952"/>
            <a:ext cx="1803776" cy="371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1"/>
              </a:lnSpc>
            </a:pPr>
            <a:r>
              <a:rPr lang="en-US" sz="1122">
                <a:solidFill>
                  <a:srgbClr val="2A2C2B"/>
                </a:solidFill>
                <a:latin typeface="DM Sans"/>
                <a:ea typeface="DM Sans"/>
                <a:cs typeface="DM Sans"/>
                <a:sym typeface="DM Sans"/>
              </a:rPr>
              <a:t>(acidentes_fatais da causa / total da causa) x 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DAHUFVg4krk</dc:identifier>
  <dcterms:modified xsi:type="dcterms:W3CDTF">2011-08-01T06:04:30Z</dcterms:modified>
  <cp:revision>1</cp:revision>
  <dc:title>Pink &amp; White Minimalist Results Table Graph</dc:title>
</cp:coreProperties>
</file>